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Robo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619E5A-6ABC-447B-A876-A04A78989CA1}">
  <a:tblStyle styleId="{01619E5A-6ABC-447B-A876-A04A78989CA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regular.fntdata"/><Relationship Id="rId14" Type="http://schemas.openxmlformats.org/officeDocument/2006/relationships/slide" Target="slides/slide8.xml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df870c2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df870c2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ff6f5b5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ff6f5b5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5ff6f5b5b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5ff6f5b5b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ff6f5b5b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ff6f5b5b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5ff6f5b5b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5ff6f5b5b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5ff6f5b5b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5ff6f5b5b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ff6f5b5b1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ff6f5b5b1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5ff6f5b5b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5ff6f5b5b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652" y="657551"/>
            <a:ext cx="1690199" cy="19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351550" y="3084725"/>
            <a:ext cx="2840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Calibri"/>
                <a:ea typeface="Calibri"/>
                <a:cs typeface="Calibri"/>
                <a:sym typeface="Calibri"/>
              </a:rPr>
              <a:t>HDFC Additional SSL 23’</a:t>
            </a:r>
            <a:endParaRPr b="1"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7308650" y="0"/>
            <a:ext cx="1508700" cy="5074800"/>
          </a:xfrm>
          <a:prstGeom prst="parallelogram">
            <a:avLst>
              <a:gd fmla="val 25000" name="adj"/>
            </a:avLst>
          </a:prstGeom>
          <a:solidFill>
            <a:srgbClr val="F0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074200" y="0"/>
            <a:ext cx="1508700" cy="5074800"/>
          </a:xfrm>
          <a:prstGeom prst="parallelogram">
            <a:avLst>
              <a:gd fmla="val 69484" name="adj"/>
            </a:avLst>
          </a:prstGeom>
          <a:solidFill>
            <a:srgbClr val="F01B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4"/>
          <p:cNvCxnSpPr/>
          <p:nvPr/>
        </p:nvCxnSpPr>
        <p:spPr>
          <a:xfrm>
            <a:off x="0" y="740004"/>
            <a:ext cx="3668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p14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4" name="Google Shape;64;p14"/>
          <p:cNvGraphicFramePr/>
          <p:nvPr/>
        </p:nvGraphicFramePr>
        <p:xfrm>
          <a:off x="36681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{01619E5A-6ABC-447B-A876-A04A78989CA1}</a:tableStyleId>
              </a:tblPr>
              <a:tblGrid>
                <a:gridCol w="857250"/>
                <a:gridCol w="790575"/>
                <a:gridCol w="552450"/>
                <a:gridCol w="533400"/>
                <a:gridCol w="23145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Coimbatore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59L3V1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 Back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01950"/>
            <a:ext cx="4858725" cy="2901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324" y="1101950"/>
            <a:ext cx="1669199" cy="3756611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Google Shape;71;p15"/>
          <p:cNvCxnSpPr/>
          <p:nvPr/>
        </p:nvCxnSpPr>
        <p:spPr>
          <a:xfrm>
            <a:off x="0" y="740004"/>
            <a:ext cx="3668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15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3" name="Google Shape;73;p15"/>
          <p:cNvGraphicFramePr/>
          <p:nvPr/>
        </p:nvGraphicFramePr>
        <p:xfrm>
          <a:off x="36681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{01619E5A-6ABC-447B-A876-A04A78989CA1}</a:tableStyleId>
              </a:tblPr>
              <a:tblGrid>
                <a:gridCol w="857250"/>
                <a:gridCol w="790575"/>
                <a:gridCol w="552450"/>
                <a:gridCol w="533400"/>
                <a:gridCol w="23145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Coimbatore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59L1V9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 Back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01950"/>
            <a:ext cx="4858725" cy="283656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/>
          <p:nvPr/>
        </p:nvSpPr>
        <p:spPr>
          <a:xfrm>
            <a:off x="2608774" y="1356075"/>
            <a:ext cx="523800" cy="2273700"/>
          </a:xfrm>
          <a:prstGeom prst="rect">
            <a:avLst/>
          </a:prstGeom>
          <a:noFill/>
          <a:ln cap="flat" cmpd="sng" w="381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324" y="1101950"/>
            <a:ext cx="1669199" cy="3756611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6"/>
          <p:cNvCxnSpPr/>
          <p:nvPr/>
        </p:nvCxnSpPr>
        <p:spPr>
          <a:xfrm>
            <a:off x="0" y="740004"/>
            <a:ext cx="3668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2" name="Google Shape;82;p16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3" name="Google Shape;83;p16"/>
          <p:cNvGraphicFramePr/>
          <p:nvPr/>
        </p:nvGraphicFramePr>
        <p:xfrm>
          <a:off x="36681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{01619E5A-6ABC-447B-A876-A04A78989CA1}</a:tableStyleId>
              </a:tblPr>
              <a:tblGrid>
                <a:gridCol w="857250"/>
                <a:gridCol w="790575"/>
                <a:gridCol w="552450"/>
                <a:gridCol w="533400"/>
                <a:gridCol w="23145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Coimbatore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59L1V11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 Back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01950"/>
            <a:ext cx="4858726" cy="2949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324" y="1101950"/>
            <a:ext cx="1669199" cy="3756611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7"/>
          <p:cNvCxnSpPr/>
          <p:nvPr/>
        </p:nvCxnSpPr>
        <p:spPr>
          <a:xfrm>
            <a:off x="0" y="740004"/>
            <a:ext cx="3668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p17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2" name="Google Shape;92;p17"/>
          <p:cNvGraphicFramePr/>
          <p:nvPr/>
        </p:nvGraphicFramePr>
        <p:xfrm>
          <a:off x="36681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{01619E5A-6ABC-447B-A876-A04A78989CA1}</a:tableStyleId>
              </a:tblPr>
              <a:tblGrid>
                <a:gridCol w="857250"/>
                <a:gridCol w="790575"/>
                <a:gridCol w="552450"/>
                <a:gridCol w="533400"/>
                <a:gridCol w="23145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Coimbatore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59L2V3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 Back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01950"/>
            <a:ext cx="4858724" cy="2735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324" y="1101950"/>
            <a:ext cx="1669199" cy="3756611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9" name="Google Shape;99;p18"/>
          <p:cNvCxnSpPr/>
          <p:nvPr/>
        </p:nvCxnSpPr>
        <p:spPr>
          <a:xfrm>
            <a:off x="0" y="740004"/>
            <a:ext cx="3668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0" name="Google Shape;100;p18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36681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{01619E5A-6ABC-447B-A876-A04A78989CA1}</a:tableStyleId>
              </a:tblPr>
              <a:tblGrid>
                <a:gridCol w="857250"/>
                <a:gridCol w="790575"/>
                <a:gridCol w="552450"/>
                <a:gridCol w="533400"/>
                <a:gridCol w="23145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Coimbatore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59L3V7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 Back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78150"/>
            <a:ext cx="4934925" cy="27038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324" y="1101950"/>
            <a:ext cx="1669199" cy="3756611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" name="Google Shape;108;p19"/>
          <p:cNvCxnSpPr/>
          <p:nvPr/>
        </p:nvCxnSpPr>
        <p:spPr>
          <a:xfrm>
            <a:off x="0" y="740004"/>
            <a:ext cx="3668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p19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0" name="Google Shape;110;p19"/>
          <p:cNvGraphicFramePr/>
          <p:nvPr/>
        </p:nvGraphicFramePr>
        <p:xfrm>
          <a:off x="36681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{01619E5A-6ABC-447B-A876-A04A78989CA1}</a:tableStyleId>
              </a:tblPr>
              <a:tblGrid>
                <a:gridCol w="857250"/>
                <a:gridCol w="790575"/>
                <a:gridCol w="552450"/>
                <a:gridCol w="533400"/>
                <a:gridCol w="23145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Coimbatore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59L2V8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72”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 Back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78150"/>
            <a:ext cx="4858725" cy="2649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5324" y="1101950"/>
            <a:ext cx="1669199" cy="3756611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7" name="Google Shape;117;p20"/>
          <p:cNvCxnSpPr/>
          <p:nvPr/>
        </p:nvCxnSpPr>
        <p:spPr>
          <a:xfrm>
            <a:off x="0" y="740004"/>
            <a:ext cx="36681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20"/>
          <p:cNvSpPr/>
          <p:nvPr/>
        </p:nvSpPr>
        <p:spPr>
          <a:xfrm flipH="1">
            <a:off x="7474800" y="2370278"/>
            <a:ext cx="1669200" cy="2773200"/>
          </a:xfrm>
          <a:prstGeom prst="rtTriangle">
            <a:avLst/>
          </a:prstGeom>
          <a:gradFill>
            <a:gsLst>
              <a:gs pos="0">
                <a:srgbClr val="CECBCB"/>
              </a:gs>
              <a:gs pos="50000">
                <a:srgbClr val="E0DDDD"/>
              </a:gs>
              <a:gs pos="100000">
                <a:srgbClr val="EFEDED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9" name="Google Shape;119;p20"/>
          <p:cNvGraphicFramePr/>
          <p:nvPr/>
        </p:nvGraphicFramePr>
        <p:xfrm>
          <a:off x="3668100" y="53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{01619E5A-6ABC-447B-A876-A04A78989CA1}</a:tableStyleId>
              </a:tblPr>
              <a:tblGrid>
                <a:gridCol w="857250"/>
                <a:gridCol w="790575"/>
                <a:gridCol w="552450"/>
                <a:gridCol w="533400"/>
                <a:gridCol w="2314575"/>
              </a:tblGrid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Coimbatore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59L2V11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124”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28575" marL="2857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Grey Back Self adhesive vinyl with matt lamination</a:t>
                      </a:r>
                      <a:endParaRPr sz="11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19050" marB="19050" marR="91425" marL="91425" anchor="ctr">
                    <a:lnL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0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0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101950"/>
            <a:ext cx="4858725" cy="271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6900" y="1101950"/>
            <a:ext cx="974100" cy="366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